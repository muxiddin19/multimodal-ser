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Title Slide (30 seconds)</a:t>
            </a:r>
          </a:p>
          <a:p/>
          <a:p>
            <a:r>
              <a:t>Welcome everyone. Today I'm presenting Sentimentogram - our work on interpretable multimodal speech emotion recognition.</a:t>
            </a:r>
          </a:p>
          <a:p/>
          <a:p>
            <a:r>
              <a:t>Key opening points:</a:t>
            </a:r>
          </a:p>
          <a:p>
            <a:r>
              <a:t>- This work focuses on HUMAN-CENTERED design, not just accuracy</a:t>
            </a:r>
          </a:p>
          <a:p>
            <a:r>
              <a:t>- We address three critical gaps in current SER systems</a:t>
            </a:r>
          </a:p>
          <a:p>
            <a:r>
              <a:t>- Our goal: Make emotion recognition UNDERSTANDABLE and USEFUL for real users</a:t>
            </a:r>
          </a:p>
          <a:p/>
          <a:p>
            <a:r>
              <a:t>Transition: Let me start by explaining why this matters...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Problem Statement (1 minute)</a:t>
            </a:r>
          </a:p>
          <a:p/>
          <a:p>
            <a:r>
              <a:t>Current SER systems have three critical problems:</a:t>
            </a:r>
          </a:p>
          <a:p/>
          <a:p>
            <a:r>
              <a:t>1. OPAQUE DECISIONS</a:t>
            </a:r>
          </a:p>
          <a:p>
            <a:r>
              <a:t>   - Deep learning models are black boxes</a:t>
            </a:r>
          </a:p>
          <a:p>
            <a:r>
              <a:t>   - Users can't understand why a prediction was made</a:t>
            </a:r>
          </a:p>
          <a:p>
            <a:r>
              <a:t>   - Critical for clinical and accessibility applications</a:t>
            </a:r>
          </a:p>
          <a:p/>
          <a:p>
            <a:r>
              <a:t>2. RAW PROBABILITY SCORES</a:t>
            </a:r>
          </a:p>
          <a:p>
            <a:r>
              <a:t>   - Output like "Angry: 0.73" means nothing to end users</a:t>
            </a:r>
          </a:p>
          <a:p>
            <a:r>
              <a:t>   - No visual representation that humans can quickly interpret</a:t>
            </a:r>
          </a:p>
          <a:p>
            <a:r>
              <a:t>   - Subtitle systems still use plain text</a:t>
            </a:r>
          </a:p>
          <a:p/>
          <a:p>
            <a:r>
              <a:t>3. NO PERSONALIZATION</a:t>
            </a:r>
          </a:p>
          <a:p>
            <a:r>
              <a:t>   - Everyone gets the same visualization</a:t>
            </a:r>
          </a:p>
          <a:p>
            <a:r>
              <a:t>   - Cultural differences ignored (red means anger in West, luck in East)</a:t>
            </a:r>
          </a:p>
          <a:p>
            <a:r>
              <a:t>   - Individual preferences not considered</a:t>
            </a:r>
          </a:p>
          <a:p/>
          <a:p>
            <a:r>
              <a:t>This matters because:</a:t>
            </a:r>
          </a:p>
          <a:p>
            <a:r>
              <a:t>- Healthcare providers need explainable predictions</a:t>
            </a:r>
          </a:p>
          <a:p>
            <a:r>
              <a:t>- Deaf/HoH users need emotion-rich subtitles</a:t>
            </a:r>
          </a:p>
          <a:p>
            <a:r>
              <a:t>- Content creators want personalized tools</a:t>
            </a:r>
          </a:p>
          <a:p/>
          <a:p>
            <a:r>
              <a:t>Transition: Our solution addresses all three...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Three Pillars (1.5 minutes)</a:t>
            </a:r>
          </a:p>
          <a:p/>
          <a:p>
            <a:r>
              <a:t>Our solution has THREE integrated pillars:</a:t>
            </a:r>
          </a:p>
          <a:p/>
          <a:p>
            <a:r>
              <a:t>PILLAR 1: INTERPRETABLE FUSION</a:t>
            </a:r>
          </a:p>
          <a:p>
            <a:r>
              <a:t>- Unlike black-box fusion, our gates are CONSTRAINED to sum to 1</a:t>
            </a:r>
          </a:p>
          <a:p>
            <a:r>
              <a:t>- This enables statements like "76% audio, 24% text"</a:t>
            </a:r>
          </a:p>
          <a:p>
            <a:r>
              <a:t>- Users can understand WHY a prediction was made</a:t>
            </a:r>
          </a:p>
          <a:p>
            <a:r>
              <a:t>- Critical for clinical deployment</a:t>
            </a:r>
          </a:p>
          <a:p/>
          <a:p>
            <a:r>
              <a:t>PILLAR 2: EMOTION TYPOGRAPHY</a:t>
            </a:r>
          </a:p>
          <a:p>
            <a:r>
              <a:t>- Transform predictions into VISUAL subtitles</a:t>
            </a:r>
          </a:p>
          <a:p>
            <a:r>
              <a:t>- Each emotion has distinct typography:</a:t>
            </a:r>
          </a:p>
          <a:p>
            <a:r>
              <a:t>  * Anger: Bold, uppercase, red, shaking</a:t>
            </a:r>
          </a:p>
          <a:p>
            <a:r>
              <a:t>  * Sadness: Italic, smaller, blue, fading</a:t>
            </a:r>
          </a:p>
          <a:p>
            <a:r>
              <a:t>  * Happiness: Bouncy, gold, playful font</a:t>
            </a:r>
          </a:p>
          <a:p>
            <a:r>
              <a:t>- Enables emotion perception without reading numbers</a:t>
            </a:r>
          </a:p>
          <a:p/>
          <a:p>
            <a:r>
              <a:t>PILLAR 3: LEARNED PERSONALIZATION</a:t>
            </a:r>
          </a:p>
          <a:p>
            <a:r>
              <a:t>- Rule-based cultural adaptation FAILS (43.8% vs 50.3% random!)</a:t>
            </a:r>
          </a:p>
          <a:p>
            <a:r>
              <a:t>- We LEARN individual preferences from minimal feedback</a:t>
            </a:r>
          </a:p>
          <a:p>
            <a:r>
              <a:t>- 10 comparisons = personalized visualization</a:t>
            </a:r>
          </a:p>
          <a:p>
            <a:r>
              <a:t>- Avoids demographic stereotyping</a:t>
            </a:r>
          </a:p>
          <a:p/>
          <a:p>
            <a:r>
              <a:t>KEY INSIGHT: These three pillars work TOGETHER:</a:t>
            </a:r>
          </a:p>
          <a:p>
            <a:r>
              <a:t>- Interpretable fusion → informs typography decisions</a:t>
            </a:r>
          </a:p>
          <a:p>
            <a:r>
              <a:t>- Typography → enables meaningful preference learning</a:t>
            </a:r>
          </a:p>
          <a:p>
            <a:r>
              <a:t>- Personalization → makes typography effective for individuals</a:t>
            </a:r>
          </a:p>
          <a:p/>
          <a:p>
            <a:r>
              <a:t>Transition: Let me show you how the interpretable fusion works...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Distinction (1 minute)</a:t>
            </a:r>
          </a:p>
          <a:p/>
          <a:p>
            <a:r>
              <a:t>This slide addresses a key question reviewers might have:</a:t>
            </a:r>
          </a:p>
          <a:p>
            <a:r>
              <a:t>"Cross-attention is well-studied. What's new?"</a:t>
            </a:r>
          </a:p>
          <a:p/>
          <a:p>
            <a:r>
              <a:t>CRITICAL DISTINCTION:</a:t>
            </a:r>
          </a:p>
          <a:p>
            <a:r>
              <a:t>Prior work uses cross-attention to MAXIMIZE ACCURACY</a:t>
            </a:r>
          </a:p>
          <a:p>
            <a:r>
              <a:t>We use constrained fusion for INTERPRETABILITY</a:t>
            </a:r>
          </a:p>
          <a:p/>
          <a:p>
            <a:r>
              <a:t>Specific differences:</a:t>
            </a:r>
          </a:p>
          <a:p>
            <a:r>
              <a:t>1. CONSTRAINED GATES</a:t>
            </a:r>
          </a:p>
          <a:p>
            <a:r>
              <a:t>   - Prior: Gates can be any value (0.3, 0.8, 0.5 - doesn't help user)</a:t>
            </a:r>
          </a:p>
          <a:p>
            <a:r>
              <a:t>   - Ours: Gates sum to 1 = percentage interpretation</a:t>
            </a:r>
          </a:p>
          <a:p/>
          <a:p>
            <a:r>
              <a:t>2. COMPLETE PIPELINE</a:t>
            </a:r>
          </a:p>
          <a:p>
            <a:r>
              <a:t>   - Prior: Model → probability → done</a:t>
            </a:r>
          </a:p>
          <a:p>
            <a:r>
              <a:t>   - Ours: Model → interpretation → visualization → personalization</a:t>
            </a:r>
          </a:p>
          <a:p/>
          <a:p>
            <a:r>
              <a:t>3. DESIGN PHILOSOPHY</a:t>
            </a:r>
          </a:p>
          <a:p>
            <a:r>
              <a:t>   - Prior: "Higher accuracy is always better"</a:t>
            </a:r>
          </a:p>
          <a:p>
            <a:r>
              <a:t>   - Ours: "Understandable predictions are more valuable"</a:t>
            </a:r>
          </a:p>
          <a:p/>
          <a:p>
            <a:r>
              <a:t>KEY MESSAGE: The innovation is the PIPELINE, not the attention mechanism.</a:t>
            </a:r>
          </a:p>
          <a:p/>
          <a:p>
            <a:r>
              <a:t>Transition: Let me show the architecture details...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Architecture (1.5 minutes)</a:t>
            </a:r>
          </a:p>
          <a:p/>
          <a:p>
            <a:r>
              <a:t>Walk through the architecture left to right:</a:t>
            </a:r>
          </a:p>
          <a:p/>
          <a:p>
            <a:r>
              <a:t>FEATURE EXTRACTION:</a:t>
            </a:r>
          </a:p>
          <a:p>
            <a:r>
              <a:t>- Text: BERT-base-uncased (768-dim)</a:t>
            </a:r>
          </a:p>
          <a:p>
            <a:r>
              <a:t>- Audio: emotion2vec-plus-large (1024-dim)</a:t>
            </a:r>
          </a:p>
          <a:p>
            <a:r>
              <a:t>  * Pretrained on 40,000 hours of emotional speech</a:t>
            </a:r>
          </a:p>
          <a:p>
            <a:r>
              <a:t>  * Already emotion-aware representations</a:t>
            </a:r>
          </a:p>
          <a:p/>
          <a:p>
            <a:r>
              <a:t>VAD-GUIDED CROSS-ATTENTION:</a:t>
            </a:r>
          </a:p>
          <a:p>
            <a:r>
              <a:t>- Standard bidirectional cross-attention</a:t>
            </a:r>
          </a:p>
          <a:p>
            <a:r>
              <a:t>- BUT: Attention weights modulated by VAD predictions</a:t>
            </a:r>
          </a:p>
          <a:p>
            <a:r>
              <a:t>- Valence-Arousal-Dominance provides psychological grounding</a:t>
            </a:r>
          </a:p>
          <a:p>
            <a:r>
              <a:t>- High arousal emotions (anger) → focus on acoustic features</a:t>
            </a:r>
          </a:p>
          <a:p>
            <a:r>
              <a:t>- This is NOT about accuracy, but INTERPRETABILITY</a:t>
            </a:r>
          </a:p>
          <a:p/>
          <a:p>
            <a:r>
              <a:t>CONSTRAINED ADAPTIVE FUSION:</a:t>
            </a:r>
          </a:p>
          <a:p>
            <a:r>
              <a:t>- Three gates: αT (text), αA (audio), αI (interaction)</a:t>
            </a:r>
          </a:p>
          <a:p>
            <a:r>
              <a:t>- CRITICAL: αT + αA + αI = 1 (softmax constraint)</a:t>
            </a:r>
          </a:p>
          <a:p>
            <a:r>
              <a:t>- This enables percentage interpretation</a:t>
            </a:r>
          </a:p>
          <a:p>
            <a:r>
              <a:t>- Example: "This prediction used 76% audio, 24% text"</a:t>
            </a:r>
          </a:p>
          <a:p/>
          <a:p>
            <a:r>
              <a:t>LOSS FUNCTION:</a:t>
            </a:r>
          </a:p>
          <a:p>
            <a:r>
              <a:t>- Focal loss: Handles class imbalance</a:t>
            </a:r>
          </a:p>
          <a:p>
            <a:r>
              <a:t>- Hard Negative MICL: Contrastive learning for confusion pairs</a:t>
            </a:r>
          </a:p>
          <a:p>
            <a:r>
              <a:t>- VAD auxiliary: Weak supervision without ground truth</a:t>
            </a:r>
          </a:p>
          <a:p/>
          <a:p>
            <a:r>
              <a:t>Transition: Let me explain the fusion constraint in detail...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Constrained Fusion (1 minute)</a:t>
            </a:r>
          </a:p>
          <a:p/>
          <a:p>
            <a:r>
              <a:t>This is THE key innovation for interpretability:</a:t>
            </a:r>
          </a:p>
          <a:p/>
          <a:p>
            <a:r>
              <a:t>THE CONSTRAINT: αT + αA + αI = 1</a:t>
            </a:r>
          </a:p>
          <a:p/>
          <a:p>
            <a:r>
              <a:t>Why this matters:</a:t>
            </a:r>
          </a:p>
          <a:p>
            <a:r>
              <a:t>1. INTERPRETABLE AS PERCENTAGES</a:t>
            </a:r>
          </a:p>
          <a:p>
            <a:r>
              <a:t>   - Without constraint: Gates could be 0.8, 0.6, 0.3 - meaningless to users</a:t>
            </a:r>
          </a:p>
          <a:p>
            <a:r>
              <a:t>   - With constraint: "76% audio, 24% text" - instantly understandable</a:t>
            </a:r>
          </a:p>
          <a:p/>
          <a:p>
            <a:r>
              <a:t>2. ENABLES EXPLANATION</a:t>
            </a:r>
          </a:p>
          <a:p>
            <a:r>
              <a:t>   - User: "Why did you predict angry?"</a:t>
            </a:r>
          </a:p>
          <a:p>
            <a:r>
              <a:t>   - System: "This prediction relied 76% on audio features"</a:t>
            </a:r>
          </a:p>
          <a:p>
            <a:r>
              <a:t>   - Compare to black-box: "Because the model said so"</a:t>
            </a:r>
          </a:p>
          <a:p/>
          <a:p>
            <a:r>
              <a:t>3. DATASET-LEVEL INSIGHTS</a:t>
            </a:r>
          </a:p>
          <a:p>
            <a:r>
              <a:t>   - CREMA-D (acted): 76.6% audio - makes sense! Actors exaggerate vocal cues</a:t>
            </a:r>
          </a:p>
          <a:p>
            <a:r>
              <a:t>   - IEMOCAP (natural): 54% text, 45% audio - balanced, natural speech is nuanced</a:t>
            </a:r>
          </a:p>
          <a:p/>
          <a:p>
            <a:r>
              <a:t>4. NO ACCURACY SACRIFICE</a:t>
            </a:r>
          </a:p>
          <a:p>
            <a:r>
              <a:t>   - Unconstrained: 92.21%</a:t>
            </a:r>
          </a:p>
          <a:p>
            <a:r>
              <a:t>   - Constrained (ours): 93.02%</a:t>
            </a:r>
          </a:p>
          <a:p>
            <a:r>
              <a:t>   - We IMPROVED accuracy while adding interpretability!</a:t>
            </a:r>
          </a:p>
          <a:p/>
          <a:p>
            <a:r>
              <a:t>Transition: Now let's see the visualization component...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Typography (1 minute)</a:t>
            </a:r>
          </a:p>
          <a:p/>
          <a:p>
            <a:r>
              <a:t>Show the VISUAL demonstration of Sentimentogram:</a:t>
            </a:r>
          </a:p>
          <a:p/>
          <a:p>
            <a:r>
              <a:t>IMAGE EXPLANATION:</a:t>
            </a:r>
          </a:p>
          <a:p>
            <a:r>
              <a:t>- This is a real output from our system</a:t>
            </a:r>
          </a:p>
          <a:p>
            <a:r>
              <a:t>- Each word is styled based on its predicted emotion</a:t>
            </a:r>
          </a:p>
          <a:p>
            <a:r>
              <a:t>- Notice: "BEING HONEST" - bold, red, uppercase = anger</a:t>
            </a:r>
          </a:p>
          <a:p>
            <a:r>
              <a:t>- Other words: gray, neutral styling</a:t>
            </a:r>
          </a:p>
          <a:p>
            <a:r>
              <a:t>- The subtitle is READABLE while conveying emotion</a:t>
            </a:r>
          </a:p>
          <a:p/>
          <a:p>
            <a:r>
              <a:t>TYPOGRAPHY DESIGN:</a:t>
            </a:r>
          </a:p>
          <a:p>
            <a:r>
              <a:t>1. ANGER: Bebas Neue font, BOLD, UPPERCASE, 1.3× size, red</a:t>
            </a:r>
          </a:p>
          <a:p>
            <a:r>
              <a:t>   - Visually "loud" and aggressive</a:t>
            </a:r>
          </a:p>
          <a:p/>
          <a:p>
            <a:r>
              <a:t>2. HAPPINESS: Fredoka, playful rounded font, gold color</a:t>
            </a:r>
          </a:p>
          <a:p>
            <a:r>
              <a:t>   - Bounce animation in video output</a:t>
            </a:r>
          </a:p>
          <a:p/>
          <a:p>
            <a:r>
              <a:t>3. SADNESS: Merriweather serif, italic, smaller (0.92×), blue</a:t>
            </a:r>
          </a:p>
          <a:p>
            <a:r>
              <a:t>   - Visually "deflated" and melancholic</a:t>
            </a:r>
          </a:p>
          <a:p/>
          <a:p>
            <a:r>
              <a:t>4. NEUTRAL: Poppins clean sans-serif, gray</a:t>
            </a:r>
          </a:p>
          <a:p>
            <a:r>
              <a:t>   - Doesn't distract from emotional words</a:t>
            </a:r>
          </a:p>
          <a:p/>
          <a:p>
            <a:r>
              <a:t>KEY FEATURES:</a:t>
            </a:r>
          </a:p>
          <a:p>
            <a:r>
              <a:t>- Real-time: 47ms latency (suitable for live video)</a:t>
            </a:r>
          </a:p>
          <a:p>
            <a:r>
              <a:t>- Character-level: High-confidence words have per-character size variation</a:t>
            </a:r>
          </a:p>
          <a:p>
            <a:r>
              <a:t>- Cultural: Western vs Eastern color symbolism profiles</a:t>
            </a:r>
          </a:p>
          <a:p>
            <a:r>
              <a:t>- Output: Interactive HTML with synchronized video</a:t>
            </a:r>
          </a:p>
          <a:p/>
          <a:p>
            <a:r>
              <a:t>Transition: But how do we personalize this for different users?...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More Examples (30 seconds)</a:t>
            </a:r>
          </a:p>
          <a:p/>
          <a:p>
            <a:r>
              <a:t>These are additional real examples from our system:</a:t>
            </a:r>
          </a:p>
          <a:p/>
          <a:p>
            <a:r>
              <a:t>Point out:</a:t>
            </a:r>
          </a:p>
          <a:p>
            <a:r>
              <a:t>- Different emotions visible in each example</a:t>
            </a:r>
          </a:p>
          <a:p>
            <a:r>
              <a:t>- Typography is INLINE - no boxes or labels needed</a:t>
            </a:r>
          </a:p>
          <a:p>
            <a:r>
              <a:t>- Readability is maintained (users can still read the subtitle)</a:t>
            </a:r>
          </a:p>
          <a:p>
            <a:r>
              <a:t>- Emotion is perceived ALONGSIDE the text content</a:t>
            </a:r>
          </a:p>
          <a:p/>
          <a:p>
            <a:r>
              <a:t>This is what makes it "Sentimentogram":</a:t>
            </a:r>
          </a:p>
          <a:p>
            <a:r>
              <a:t>- Like a cardiogram shows heart rhythm</a:t>
            </a:r>
          </a:p>
          <a:p>
            <a:r>
              <a:t>- Sentimentogram shows emotional rhythm of speech</a:t>
            </a:r>
          </a:p>
          <a:p/>
          <a:p>
            <a:r>
              <a:t>Transition: Now let's talk about personalization...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Preference Learning (1.5 minutes)</a:t>
            </a:r>
          </a:p>
          <a:p/>
          <a:p>
            <a:r>
              <a:t>This is a SURPRISING and IMPORTANT finding:</a:t>
            </a:r>
          </a:p>
          <a:p/>
          <a:p>
            <a:r>
              <a:t>RULE-BASED PERSONALIZATION FAILS:</a:t>
            </a:r>
          </a:p>
          <a:p>
            <a:r>
              <a:t>- Common approach: Use demographics to infer preferences</a:t>
            </a:r>
          </a:p>
          <a:p>
            <a:r>
              <a:t>- "Eastern users prefer red for positive emotions"</a:t>
            </a:r>
          </a:p>
          <a:p>
            <a:r>
              <a:t>- "Older users need larger fonts"</a:t>
            </a:r>
          </a:p>
          <a:p>
            <a:r>
              <a:t>- Result: 43.8% accuracy - WORSE THAN RANDOM (p=0.014)!</a:t>
            </a:r>
          </a:p>
          <a:p/>
          <a:p>
            <a:r>
              <a:t>Why does it fail?</a:t>
            </a:r>
          </a:p>
          <a:p>
            <a:r>
              <a:t>- Demographics don't predict individual preferences</a:t>
            </a:r>
          </a:p>
          <a:p>
            <a:r>
              <a:t>- Stereotyping leads to wrong assumptions</a:t>
            </a:r>
          </a:p>
          <a:p>
            <a:r>
              <a:t>- Individual variation is larger than group patterns</a:t>
            </a:r>
          </a:p>
          <a:p/>
          <a:p>
            <a:r>
              <a:t>OUR LEARNED APPROACH (N=50 real users, 1500 comparisons):</a:t>
            </a:r>
          </a:p>
          <a:p>
            <a:r>
              <a:t>1. Show user 10-12 pairwise comparisons (~3 minutes)</a:t>
            </a:r>
          </a:p>
          <a:p>
            <a:r>
              <a:t>2. User simply picks which subtitle style they prefer</a:t>
            </a:r>
          </a:p>
          <a:p>
            <a:r>
              <a:t>3. Train lightweight logistic regression model</a:t>
            </a:r>
          </a:p>
          <a:p>
            <a:r>
              <a:t>4. Personalize all future content</a:t>
            </a:r>
          </a:p>
          <a:p/>
          <a:p>
            <a:r>
              <a:t>Stronger baselines tested:</a:t>
            </a:r>
          </a:p>
          <a:p>
            <a:r>
              <a:t>- Bradley-Terry hierarchical: 52.8%</a:t>
            </a:r>
          </a:p>
          <a:p>
            <a:r>
              <a:t>- Collaborative filtering: 53.5%</a:t>
            </a:r>
          </a:p>
          <a:p>
            <a:r>
              <a:t>- Contextual logistic: 52.1%</a:t>
            </a:r>
          </a:p>
          <a:p>
            <a:r>
              <a:t>- Our learned approach: 61.2% (p&lt;0.001)</a:t>
            </a:r>
          </a:p>
          <a:p/>
          <a:p>
            <a:r>
              <a:t>Direct A/B study (N=15 held-out users):</a:t>
            </a:r>
          </a:p>
          <a:p>
            <a:r>
              <a:t>- Satisfaction: +8.7% (p=0.001)</a:t>
            </a:r>
          </a:p>
          <a:p>
            <a:r>
              <a:t>- Comprehension: +5.8% (p&lt;0.001)</a:t>
            </a:r>
          </a:p>
          <a:p/>
          <a:p>
            <a:r>
              <a:t>BROADER IMPLICATION:</a:t>
            </a:r>
          </a:p>
          <a:p>
            <a:r>
              <a:t>- This finding applies beyond SER</a:t>
            </a:r>
          </a:p>
          <a:p>
            <a:r>
              <a:t>- NLP interfaces should learn from user feedback</a:t>
            </a:r>
          </a:p>
          <a:p>
            <a:r>
              <a:t>- Not rely on demographic assumptions</a:t>
            </a:r>
          </a:p>
          <a:p>
            <a:r>
              <a:t>- Especially important for accessibility applications</a:t>
            </a:r>
          </a:p>
          <a:p/>
          <a:p>
            <a:r>
              <a:t>Transition: Now let's see the quantitative results...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Main Results (1 minute)</a:t>
            </a:r>
          </a:p>
          <a:p/>
          <a:p>
            <a:r>
              <a:t>Walk through the table:</a:t>
            </a:r>
          </a:p>
          <a:p/>
          <a:p>
            <a:r>
              <a:t>BASELINES:</a:t>
            </a:r>
          </a:p>
          <a:p>
            <a:r>
              <a:t>- BERT-only: Text is weak alone for emotion</a:t>
            </a:r>
          </a:p>
          <a:p>
            <a:r>
              <a:t>- emotion2vec: Strong audio baseline (91.27% on IEMOCAP-4)</a:t>
            </a:r>
          </a:p>
          <a:p>
            <a:r>
              <a:t>- Concatenation: Simple fusion works reasonably well</a:t>
            </a:r>
          </a:p>
          <a:p>
            <a:r>
              <a:t>- Standard cross-attention: Actually WORSE than concatenation!</a:t>
            </a:r>
          </a:p>
          <a:p>
            <a:r>
              <a:t>- Unconstrained adaptive: 92.21% - our accuracy competitor</a:t>
            </a:r>
          </a:p>
          <a:p/>
          <a:p>
            <a:r>
              <a:t>OUR RESULTS (bottom row, highlighted):</a:t>
            </a:r>
          </a:p>
          <a:p>
            <a:r>
              <a:t>- IEMOCAP-4: 93.02% - BEST, +0.81% over unconstrained</a:t>
            </a:r>
          </a:p>
          <a:p>
            <a:r>
              <a:t>- IEMOCAP-5: 77.97% - BEST, +1.46% improvement</a:t>
            </a:r>
          </a:p>
          <a:p>
            <a:r>
              <a:t>- CREMA-D: 92.90% - BEST</a:t>
            </a:r>
          </a:p>
          <a:p>
            <a:r>
              <a:t>- MELD: 63.66% - BEST</a:t>
            </a:r>
          </a:p>
          <a:p/>
          <a:p>
            <a:r>
              <a:t>KEY MESSAGE:</a:t>
            </a:r>
          </a:p>
          <a:p>
            <a:r>
              <a:t>"We achieve BETTER accuracy with INTERPRETABLE fusion"</a:t>
            </a:r>
          </a:p>
          <a:p>
            <a:r>
              <a:t>- Sum-to-one constraint adds interpretability</a:t>
            </a:r>
          </a:p>
          <a:p>
            <a:r>
              <a:t>- Does NOT hurt performance</a:t>
            </a:r>
          </a:p>
          <a:p>
            <a:r>
              <a:t>- Actually HELPS in most cases</a:t>
            </a:r>
          </a:p>
          <a:p/>
          <a:p>
            <a:r>
              <a:t>GENERALIZATION:</a:t>
            </a:r>
          </a:p>
          <a:p>
            <a:r>
              <a:t>- IEMOCAP: Natural dyadic conversations</a:t>
            </a:r>
          </a:p>
          <a:p>
            <a:r>
              <a:t>- CREMA-D: Acted/scripted emotions</a:t>
            </a:r>
          </a:p>
          <a:p>
            <a:r>
              <a:t>- MELD: Multi-party TV dialogue</a:t>
            </a:r>
          </a:p>
          <a:p>
            <a:r>
              <a:t>- All different domains, consistent improvement</a:t>
            </a:r>
          </a:p>
          <a:p/>
          <a:p>
            <a:r>
              <a:t>Transition: Let's look at ASR robustness...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ASR Robustness (45 seconds)</a:t>
            </a:r>
          </a:p>
          <a:p/>
          <a:p>
            <a:r>
              <a:t>CRITICAL for real-world deployment:</a:t>
            </a:r>
          </a:p>
          <a:p/>
          <a:p>
            <a:r>
              <a:t>EXPERIMENTAL SETUP:</a:t>
            </a:r>
          </a:p>
          <a:p>
            <a:r>
              <a:t>- Used Whisper-large-v3 to transcribe IEMOCAP audio</a:t>
            </a:r>
          </a:p>
          <a:p>
            <a:r>
              <a:t>- Compared ground-truth text vs ASR transcripts</a:t>
            </a:r>
          </a:p>
          <a:p>
            <a:r>
              <a:t>- Real WER: 44.3% (quite noisy!)</a:t>
            </a:r>
          </a:p>
          <a:p/>
          <a:p>
            <a:r>
              <a:t>RESULTS:</a:t>
            </a:r>
          </a:p>
          <a:p>
            <a:r>
              <a:t>- Ground truth: 76.26% UA</a:t>
            </a:r>
          </a:p>
          <a:p>
            <a:r>
              <a:t>- With ASR errors: 75.30% UA</a:t>
            </a:r>
          </a:p>
          <a:p>
            <a:r>
              <a:t>- Degradation: Only 0.96%!</a:t>
            </a:r>
          </a:p>
          <a:p/>
          <a:p>
            <a:r>
              <a:t>WHY SO ROBUST?</a:t>
            </a:r>
          </a:p>
          <a:p>
            <a:r>
              <a:t>1. Multimodal fusion: Audio features unaffected by text errors</a:t>
            </a:r>
          </a:p>
          <a:p>
            <a:r>
              <a:t>2. BERT is robust: Semantic meaning preserved despite word changes</a:t>
            </a:r>
          </a:p>
          <a:p>
            <a:r>
              <a:t>3. Learned redundancy: Model learns to use both modalities</a:t>
            </a:r>
          </a:p>
          <a:p/>
          <a:p>
            <a:r>
              <a:t>IMPORTANCE:</a:t>
            </a:r>
          </a:p>
          <a:p>
            <a:r>
              <a:t>- Real-world audio has ASR errors</a:t>
            </a:r>
          </a:p>
          <a:p>
            <a:r>
              <a:t>- If model only worked with clean text, it would be useless</a:t>
            </a:r>
          </a:p>
          <a:p>
            <a:r>
              <a:t>- This shows practical deployability</a:t>
            </a:r>
          </a:p>
          <a:p/>
          <a:p>
            <a:r>
              <a:t>Transition: Now let's see the ablation study...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Ablation Study (1 minute)</a:t>
            </a:r>
          </a:p>
          <a:p/>
          <a:p>
            <a:r>
              <a:t>TWO AXES of evaluation:</a:t>
            </a:r>
          </a:p>
          <a:p/>
          <a:p>
            <a:r>
              <a:t>ACCURACY IMPACT:</a:t>
            </a:r>
          </a:p>
          <a:p>
            <a:r>
              <a:t>- Multimodal fusion is essential (audio-only and text-only much worse)</a:t>
            </a:r>
          </a:p>
          <a:p>
            <a:r>
              <a:t>- VAD auxiliary loss provides useful regularization (-1.2% without it)</a:t>
            </a:r>
          </a:p>
          <a:p>
            <a:r>
              <a:t>- Individual components show synergistic effects</a:t>
            </a:r>
          </a:p>
          <a:p/>
          <a:p>
            <a:r>
              <a:t>INTERPRETABILITY VALUE (more important!):</a:t>
            </a:r>
          </a:p>
          <a:p>
            <a:r>
              <a:t>- Unconstrained fusion: 92.21% accuracy, but gates are meaningless</a:t>
            </a:r>
          </a:p>
          <a:p>
            <a:r>
              <a:t>- Constrained fusion: 93.02% accuracy + interpretability</a:t>
            </a:r>
          </a:p>
          <a:p>
            <a:r>
              <a:t>- We get BOTH better accuracy AND explanation capability</a:t>
            </a:r>
          </a:p>
          <a:p/>
          <a:p>
            <a:r>
              <a:t>ADDRESSING POTENTIAL CRITICISM:</a:t>
            </a:r>
          </a:p>
          <a:p>
            <a:r>
              <a:t>"But individual components don't show isolated effects..."</a:t>
            </a:r>
          </a:p>
          <a:p/>
          <a:p>
            <a:r>
              <a:t>Response: This is EXPECTED and INTENTIONAL</a:t>
            </a:r>
          </a:p>
          <a:p>
            <a:r>
              <a:t>- Components were designed to complement each other</a:t>
            </a:r>
          </a:p>
          <a:p>
            <a:r>
              <a:t>- VAD → Attention → Fusion → MICL is a pipeline</a:t>
            </a:r>
          </a:p>
          <a:p>
            <a:r>
              <a:t>- The whole should exceed the sum of parts</a:t>
            </a:r>
          </a:p>
          <a:p>
            <a:r>
              <a:t>- This indicates successful INTEGRATION</a:t>
            </a:r>
          </a:p>
          <a:p/>
          <a:p>
            <a:r>
              <a:t>KEY MESSAGE:</a:t>
            </a:r>
          </a:p>
          <a:p>
            <a:r>
              <a:t>"Interpretability is the PRIMARY contribution, not just accuracy"</a:t>
            </a:r>
          </a:p>
          <a:p/>
          <a:p>
            <a:r>
              <a:t>Transition: Let me show the fusion gate analysis...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Fusion Analysis (1 minute)</a:t>
            </a:r>
          </a:p>
          <a:p/>
          <a:p>
            <a:r>
              <a:t>This is WHERE interpretability becomes valuable:</a:t>
            </a:r>
          </a:p>
          <a:p/>
          <a:p>
            <a:r>
              <a:t>CREMA-D (Acted Speech):</a:t>
            </a:r>
          </a:p>
          <a:p>
            <a:r>
              <a:t>- 76.6% audio, 23.1% text</a:t>
            </a:r>
          </a:p>
          <a:p>
            <a:r>
              <a:t>- Makes sense! Actors EXAGGERATE vocal expressions</a:t>
            </a:r>
          </a:p>
          <a:p>
            <a:r>
              <a:t>- Emotion is mostly in HOW they speak, not WHAT they say</a:t>
            </a:r>
          </a:p>
          <a:p/>
          <a:p>
            <a:r>
              <a:t>IEMOCAP (Natural Conversation):</a:t>
            </a:r>
          </a:p>
          <a:p>
            <a:r>
              <a:t>- 54.3% text, 45.5% audio (5-class)</a:t>
            </a:r>
          </a:p>
          <a:p>
            <a:r>
              <a:t>- More balanced fusion</a:t>
            </a:r>
          </a:p>
          <a:p>
            <a:r>
              <a:t>- Natural speech requires understanding BOTH content AND delivery</a:t>
            </a:r>
          </a:p>
          <a:p/>
          <a:p>
            <a:r>
              <a:t>INTERACTION GATES:</a:t>
            </a:r>
          </a:p>
          <a:p>
            <a:r>
              <a:t>- Minimal (&lt;1%) across all datasets</a:t>
            </a:r>
          </a:p>
          <a:p>
            <a:r>
              <a:t>- Suggests additive rather than multiplicative integration</a:t>
            </a:r>
          </a:p>
          <a:p>
            <a:r>
              <a:t>- Text and audio provide complementary, not interactive, signals</a:t>
            </a:r>
          </a:p>
          <a:p/>
          <a:p>
            <a:r>
              <a:t>WHY THIS MATTERS:</a:t>
            </a:r>
          </a:p>
          <a:p>
            <a:r>
              <a:t>- Without interpretability, these insights are invisible</a:t>
            </a:r>
          </a:p>
          <a:p>
            <a:r>
              <a:t>- With constrained gates, we can EXPLAIN model behavior</a:t>
            </a:r>
          </a:p>
          <a:p>
            <a:r>
              <a:t>- Useful for debugging, domain adaptation, clinical deployment</a:t>
            </a:r>
          </a:p>
          <a:p/>
          <a:p>
            <a:r>
              <a:t>Example explanation:</a:t>
            </a:r>
          </a:p>
          <a:p>
            <a:r>
              <a:t>"The model predicted ANGRY because it relied 76% on vocal features,</a:t>
            </a:r>
          </a:p>
          <a:p>
            <a:r>
              <a:t>which showed elevated pitch and fast speaking rate."</a:t>
            </a:r>
          </a:p>
          <a:p/>
          <a:p>
            <a:r>
              <a:t>Transition: Let's see the user study results...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User Study (1 minute)</a:t>
            </a:r>
          </a:p>
          <a:p/>
          <a:p>
            <a:r>
              <a:t>KEY FINDINGS from our user study:</a:t>
            </a:r>
          </a:p>
          <a:p/>
          <a:p>
            <a:r>
              <a:t>1. READING SPEED PRESERVED (98%)</a:t>
            </a:r>
          </a:p>
          <a:p>
            <a:r>
              <a:t>   - Typography doesn't slow reading</a:t>
            </a:r>
          </a:p>
          <a:p>
            <a:r>
              <a:t>   - Critical for practical deployment</a:t>
            </a:r>
          </a:p>
          <a:p>
            <a:r>
              <a:t>   - Users can read at normal pace</a:t>
            </a:r>
          </a:p>
          <a:p/>
          <a:p>
            <a:r>
              <a:t>2. EMOTION RECOGNITION IMPROVED (84.2% vs 61.3%)</a:t>
            </a:r>
          </a:p>
          <a:p>
            <a:r>
              <a:t>   - +22.9% improvement with typography</a:t>
            </a:r>
          </a:p>
          <a:p>
            <a:r>
              <a:t>   - Users correctly identify more emotions</a:t>
            </a:r>
          </a:p>
          <a:p>
            <a:r>
              <a:t>   - Typography adds information value</a:t>
            </a:r>
          </a:p>
          <a:p/>
          <a:p>
            <a:r>
              <a:t>3. TYPOGRAPHY-ONLY RECOGNITION:</a:t>
            </a:r>
          </a:p>
          <a:p>
            <a:r>
              <a:t>   - Anger: 87.3% accuracy from typography alone</a:t>
            </a:r>
          </a:p>
          <a:p>
            <a:r>
              <a:t>   - Happiness: 79.2% accuracy</a:t>
            </a:r>
          </a:p>
          <a:p>
            <a:r>
              <a:t>   - Users can identify emotion WITHOUT audio</a:t>
            </a:r>
          </a:p>
          <a:p>
            <a:r>
              <a:t>   - Critical for deaf/HoH accessibility</a:t>
            </a:r>
          </a:p>
          <a:p/>
          <a:p>
            <a:r>
              <a:t>STATISTICAL SIGNIFICANCE:</a:t>
            </a:r>
          </a:p>
          <a:p>
            <a:r>
              <a:t>- All comparisons p &lt; 0.001</a:t>
            </a:r>
          </a:p>
          <a:p>
            <a:r>
              <a:t>- Bootstrap confidence intervals</a:t>
            </a:r>
          </a:p>
          <a:p>
            <a:r>
              <a:t>- Within-subjects design reduces variance</a:t>
            </a:r>
          </a:p>
          <a:p/>
          <a:p>
            <a:r>
              <a:t>STUDY DESIGN:</a:t>
            </a:r>
          </a:p>
          <a:p>
            <a:r>
              <a:t>- N = 30 participants</a:t>
            </a:r>
          </a:p>
          <a:p>
            <a:r>
              <a:t>- Balanced demographics</a:t>
            </a:r>
          </a:p>
          <a:p>
            <a:r>
              <a:t>- Three conditions: Plain, Full, Reduced</a:t>
            </a:r>
          </a:p>
          <a:p>
            <a:r>
              <a:t>- Randomized order</a:t>
            </a:r>
          </a:p>
          <a:p/>
          <a:p>
            <a:r>
              <a:t>Transition: Let's discuss system latency...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System Latency (30 seconds)</a:t>
            </a:r>
          </a:p>
          <a:p/>
          <a:p>
            <a:r>
              <a:t>LATENCY BREAKDOWN:</a:t>
            </a:r>
          </a:p>
          <a:p>
            <a:r>
              <a:t>- Audio extraction: 12ms (emotion2vec is efficient)</a:t>
            </a:r>
          </a:p>
          <a:p>
            <a:r>
              <a:t>- Text extraction: 8ms (BERT is fast for short sequences)</a:t>
            </a:r>
          </a:p>
          <a:p>
            <a:r>
              <a:t>- Model forward: 15ms (attention + fusion)</a:t>
            </a:r>
          </a:p>
          <a:p>
            <a:r>
              <a:t>- Typography: 12ms (HTML rendering)</a:t>
            </a:r>
          </a:p>
          <a:p>
            <a:r>
              <a:t>- TOTAL: 47ms</a:t>
            </a:r>
          </a:p>
          <a:p/>
          <a:p>
            <a:r>
              <a:t>WHY 47ms MATTERS:</a:t>
            </a:r>
          </a:p>
          <a:p>
            <a:r>
              <a:t>- Human perception threshold: ~100ms</a:t>
            </a:r>
          </a:p>
          <a:p>
            <a:r>
              <a:t>- 47ms is well below perceptible delay</a:t>
            </a:r>
          </a:p>
          <a:p>
            <a:r>
              <a:t>- Suitable for real-time applications</a:t>
            </a:r>
          </a:p>
          <a:p/>
          <a:p>
            <a:r>
              <a:t>PRACTICAL DEPLOYMENT:</a:t>
            </a:r>
          </a:p>
          <a:p>
            <a:r>
              <a:t>- Live streaming: Emotion-styled subtitles</a:t>
            </a:r>
          </a:p>
          <a:p>
            <a:r>
              <a:t>- Video calls: Real-time emotion feedback</a:t>
            </a:r>
          </a:p>
          <a:p>
            <a:r>
              <a:t>- Therapy: Immediate emotional reflection</a:t>
            </a:r>
          </a:p>
          <a:p>
            <a:r>
              <a:t>- Accessibility: Live captions with emotion</a:t>
            </a:r>
          </a:p>
          <a:p/>
          <a:p>
            <a:r>
              <a:t>Hardware: All measurements on single NVIDIA RTX 3090</a:t>
            </a:r>
          </a:p>
          <a:p>
            <a:r>
              <a:t>Could be faster with optimization/quantization</a:t>
            </a:r>
          </a:p>
          <a:p/>
          <a:p>
            <a:r>
              <a:t>Transition: Let me discuss limitations honestly...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Limitations (1 minute)</a:t>
            </a:r>
          </a:p>
          <a:p/>
          <a:p>
            <a:r>
              <a:t>Be HONEST about limitations:</a:t>
            </a:r>
          </a:p>
          <a:p/>
          <a:p>
            <a:r>
              <a:t>1. NO VIDEO MODALITY</a:t>
            </a:r>
          </a:p>
          <a:p>
            <a:r>
              <a:t>   - Facial expressions are valuable for emotion</a:t>
            </a:r>
          </a:p>
          <a:p>
            <a:r>
              <a:t>   - We focused on audio+text for this work</a:t>
            </a:r>
          </a:p>
          <a:p>
            <a:r>
              <a:t>   - Future: Add visual processing</a:t>
            </a:r>
          </a:p>
          <a:p/>
          <a:p>
            <a:r>
              <a:t>2. ENGLISH ONLY</a:t>
            </a:r>
          </a:p>
          <a:p>
            <a:r>
              <a:t>   - All datasets are English</a:t>
            </a:r>
          </a:p>
          <a:p>
            <a:r>
              <a:t>   - Cross-lingual transfer untested</a:t>
            </a:r>
          </a:p>
          <a:p>
            <a:r>
              <a:t>   - Future: Multilingual evaluation (follow UniSER)</a:t>
            </a:r>
          </a:p>
          <a:p/>
          <a:p>
            <a:r>
              <a:t>3. UTTERANCE-LEVEL</a:t>
            </a:r>
          </a:p>
          <a:p>
            <a:r>
              <a:t>   - We don't model dialogue history</a:t>
            </a:r>
          </a:p>
          <a:p>
            <a:r>
              <a:t>   - Conversation context helps ambiguous cases</a:t>
            </a:r>
          </a:p>
          <a:p>
            <a:r>
              <a:t>   - Future: Add dialogue modeling</a:t>
            </a:r>
          </a:p>
          <a:p/>
          <a:p>
            <a:r>
              <a:t>4. SYNERGISTIC COMPONENTS</a:t>
            </a:r>
          </a:p>
          <a:p>
            <a:r>
              <a:t>   - Components work together, hard to isolate</a:t>
            </a:r>
          </a:p>
          <a:p>
            <a:r>
              <a:t>   - This is BY DESIGN, not a bug</a:t>
            </a:r>
          </a:p>
          <a:p>
            <a:r>
              <a:t>   - Integrated pipeline is the point</a:t>
            </a:r>
          </a:p>
          <a:p/>
          <a:p>
            <a:r>
              <a:t>KEY MESSAGE:</a:t>
            </a:r>
          </a:p>
          <a:p>
            <a:r>
              <a:t>"We're honest about what we don't do.</a:t>
            </a:r>
          </a:p>
          <a:p>
            <a:r>
              <a:t>Our contribution is the PHILOSOPHY of human-centered design,</a:t>
            </a:r>
          </a:p>
          <a:p>
            <a:r>
              <a:t>not just incremental accuracy improvements."</a:t>
            </a:r>
          </a:p>
          <a:p/>
          <a:p>
            <a:r>
              <a:t>Transition: Let me summarize...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Conclusion (1 minute)</a:t>
            </a:r>
          </a:p>
          <a:p/>
          <a:p>
            <a:r>
              <a:t>SUMMARIZE the three pillars:</a:t>
            </a:r>
          </a:p>
          <a:p/>
          <a:p>
            <a:r>
              <a:t>1. INTERPRETABLE FUSION</a:t>
            </a:r>
          </a:p>
          <a:p>
            <a:r>
              <a:t>   - Constrained gates enable percentage explanations</a:t>
            </a:r>
          </a:p>
          <a:p>
            <a:r>
              <a:t>   - "76% audio, 24% text" is understandable</a:t>
            </a:r>
          </a:p>
          <a:p>
            <a:r>
              <a:t>   - Critical for clinical/accessibility deployment</a:t>
            </a:r>
          </a:p>
          <a:p/>
          <a:p>
            <a:r>
              <a:t>2. EMOTION TYPOGRAPHY</a:t>
            </a:r>
          </a:p>
          <a:p>
            <a:r>
              <a:t>   - Visual subtitles convey emotion through styling</a:t>
            </a:r>
          </a:p>
          <a:p>
            <a:r>
              <a:t>   - +22.9% emotion recognition improvement</a:t>
            </a:r>
          </a:p>
          <a:p>
            <a:r>
              <a:t>   - Enables perception without audio (accessibility)</a:t>
            </a:r>
          </a:p>
          <a:p/>
          <a:p>
            <a:r>
              <a:t>3. LEARNED PERSONALIZATION (N=50 real users, 1500 comparisons)</a:t>
            </a:r>
          </a:p>
          <a:p>
            <a:r>
              <a:t>   - Rule-based cultural adaptation FAILS (43.8%, p=0.014)</a:t>
            </a:r>
          </a:p>
          <a:p>
            <a:r>
              <a:t>   - Learned approach: 61.2% vs Bradley-Terry 52.8% (p&lt;0.001)</a:t>
            </a:r>
          </a:p>
          <a:p>
            <a:r>
              <a:t>   - A/B study: +8.7% satisfaction, +5.8% comprehension</a:t>
            </a:r>
          </a:p>
          <a:p>
            <a:r>
              <a:t>   - Learn from individuals, not stereotypes</a:t>
            </a:r>
          </a:p>
          <a:p/>
          <a:p>
            <a:r>
              <a:t>KEY NUMBERS:</a:t>
            </a:r>
          </a:p>
          <a:p>
            <a:r>
              <a:t>- 93.02% on IEMOCAP-4 (competitive with SOTA)</a:t>
            </a:r>
          </a:p>
          <a:p>
            <a:r>
              <a:t>- 77.97% on IEMOCAP-5</a:t>
            </a:r>
          </a:p>
          <a:p>
            <a:r>
              <a:t>- 47ms latency (real-time capable)</a:t>
            </a:r>
          </a:p>
          <a:p>
            <a:r>
              <a:t>- ASR robust: Only -0.96% UA with 44% WER</a:t>
            </a:r>
          </a:p>
          <a:p/>
          <a:p>
            <a:r>
              <a:t>FINAL MESSAGE:</a:t>
            </a:r>
          </a:p>
          <a:p>
            <a:r>
              <a:t>"We showed that human-centered design is NOT a tradeoff—</a:t>
            </a:r>
          </a:p>
          <a:p>
            <a:r>
              <a:t>you can have interpretability, visualization, personalization,</a:t>
            </a:r>
          </a:p>
          <a:p>
            <a:r>
              <a:t>AND competitive accuracy. This is the future of NLP systems."</a:t>
            </a:r>
          </a:p>
          <a:p/>
          <a:p>
            <a:r>
              <a:t>Transition: Thank you,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PRESENTER NOTES - Thank You (open for Q&amp;A)</a:t>
            </a:r>
          </a:p>
          <a:p/>
          <a:p>
            <a:r>
              <a:t>ANTICIPATED QUESTIONS:</a:t>
            </a:r>
          </a:p>
          <a:p/>
          <a:p>
            <a:r>
              <a:t>Q: "How does this compare to GPT-4 or LLM-based emotion recognition?"</a:t>
            </a:r>
          </a:p>
          <a:p>
            <a:r>
              <a:t>A: LLMs are powerful but lack interpretability and real-time capability.</a:t>
            </a:r>
          </a:p>
          <a:p>
            <a:r>
              <a:t>   Our approach is complementary—could use LLM for text understanding,</a:t>
            </a:r>
          </a:p>
          <a:p>
            <a:r>
              <a:t>   but fusion interpretability remains our unique contribution.</a:t>
            </a:r>
          </a:p>
          <a:p/>
          <a:p>
            <a:r>
              <a:t>Q: "Why not use video modality?"</a:t>
            </a:r>
          </a:p>
          <a:p>
            <a:r>
              <a:t>A: Focused scope for this work. Video adds complexity.</a:t>
            </a:r>
          </a:p>
          <a:p>
            <a:r>
              <a:t>   Audio+text covers many use cases. Future work will add video.</a:t>
            </a:r>
          </a:p>
          <a:p/>
          <a:p>
            <a:r>
              <a:t>Q: "How do you handle mixed emotions?"</a:t>
            </a:r>
          </a:p>
          <a:p>
            <a:r>
              <a:t>A: Current model predicts dominant emotion.</a:t>
            </a:r>
          </a:p>
          <a:p>
            <a:r>
              <a:t>   Future: Multi-label prediction or VAD regression.</a:t>
            </a:r>
          </a:p>
          <a:p/>
          <a:p>
            <a:r>
              <a:t>Q: "Is 30 participants enough for user study?"</a:t>
            </a:r>
          </a:p>
          <a:p>
            <a:r>
              <a:t>A: Within-subjects design reduces variance.</a:t>
            </a:r>
          </a:p>
          <a:p>
            <a:r>
              <a:t>   Effect sizes are large (p &lt; 0.001).</a:t>
            </a:r>
          </a:p>
          <a:p>
            <a:r>
              <a:t>   Standard for HCI/NLP user studies.</a:t>
            </a:r>
          </a:p>
          <a:p/>
          <a:p>
            <a:r>
              <a:t>Q: "Real deployment considerations?"</a:t>
            </a:r>
          </a:p>
          <a:p>
            <a:r>
              <a:t>A: 47ms latency is practical. Privacy concerns addressed.</a:t>
            </a:r>
          </a:p>
          <a:p>
            <a:r>
              <a:t>   Would need user consent for emotion tracking.</a:t>
            </a:r>
          </a:p>
          <a:p/>
          <a:p>
            <a:r>
              <a:t>Thank the audience and invite specific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Sentimentogram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Interpretable Multimodal Speech Emotion Recognition</a:t>
            </a:r>
            <a:br/>
            <a:r>
              <a:t>with Human-Centered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C107"/>
                </a:solidFill>
              </a:defRPr>
            </a:pPr>
            <a:r>
              <a:t>ACL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E6"/>
                </a:solidFill>
              </a:defRPr>
            </a:pPr>
            <a:r>
              <a:t>Anonymous Authors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Problem: Black-Box Emotion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DC3545"/>
                </a:solidFill>
              </a:defRPr>
            </a:pPr>
            <a:r>
              <a:t>🔒 Opaque Decisions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Models predict emotions but can't explain WHY</a:t>
            </a:r>
          </a:p>
          <a:p>
            <a:pPr>
              <a:spcBef>
                <a:spcPts val="2000"/>
              </a:spcBef>
            </a:pPr>
          </a:p>
          <a:p>
            <a:pPr>
              <a:defRPr sz="2400" b="1">
                <a:solidFill>
                  <a:srgbClr val="DC3545"/>
                </a:solidFill>
              </a:defRPr>
            </a:pPr>
            <a:r>
              <a:t>📊 Raw Scores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Probabilities are meaningless to end users</a:t>
            </a:r>
          </a:p>
          <a:p>
            <a:pPr>
              <a:spcBef>
                <a:spcPts val="2000"/>
              </a:spcBef>
            </a:pPr>
          </a:p>
          <a:p>
            <a:pPr>
              <a:defRPr sz="2400" b="1">
                <a:solidFill>
                  <a:srgbClr val="DC3545"/>
                </a:solidFill>
              </a:defRPr>
            </a:pPr>
            <a:r>
              <a:t>👥 One-Size-Fits-All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Cultural/personal preferences ignored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2743200" cy="1828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Black Box</a:t>
            </a:r>
            <a:br/>
            <a:r>
              <a:t>Model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303520" y="2560320"/>
            <a:ext cx="1005840" cy="365760"/>
          </a:xfrm>
          <a:prstGeom prst="rightArrow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9235440" y="2560320"/>
            <a:ext cx="1005840" cy="365760"/>
          </a:xfrm>
          <a:prstGeom prst="rightArrow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3017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Audio +</a:t>
            </a:r>
            <a:br/>
            <a:r>
              <a:t>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Angry: 0.73</a:t>
            </a:r>
            <a:br/>
            <a:r>
              <a:t>Sad: 0.15</a:t>
            </a:r>
            <a:br/>
            <a:r>
              <a:t>Happy: 0.12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329184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C3545"/>
                </a:solidFill>
              </a:defRPr>
            </a:pPr>
            <a:r>
              <a:t>???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3366"/>
                </a:solidFill>
              </a:defRPr>
            </a:pPr>
            <a:r>
              <a:t>Users need to UNDERSTAND and TRUST emotion predictions to use them effectively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Our Solution: Three Pillars of Human-Centered 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11680" y="1920240"/>
            <a:ext cx="9144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201168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6699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Interpretable</a:t>
            </a:r>
            <a:br/>
            <a:r>
              <a:t>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Constrained gates that sum to 1:</a:t>
            </a:r>
            <a:br/>
            <a:r>
              <a:t>'76% audio, 24% text'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45920"/>
            <a:ext cx="3474720" cy="4114800"/>
          </a:xfrm>
          <a:prstGeom prst="round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0" y="1920240"/>
            <a:ext cx="9144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28B22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0175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Emotion</a:t>
            </a:r>
            <a:br/>
            <a:r>
              <a:t>Typography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Visual subtitles with</a:t>
            </a:r>
            <a:br/>
            <a:r>
              <a:t>emotion-specific styling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645920"/>
            <a:ext cx="3474720" cy="4114800"/>
          </a:xfrm>
          <a:prstGeom prst="roundRect">
            <a:avLst/>
          </a:prstGeom>
          <a:solidFill>
            <a:srgbClr val="CC5500"/>
          </a:solidFill>
          <a:ln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92640" y="1920240"/>
            <a:ext cx="9144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011680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C5500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01752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Learned</a:t>
            </a:r>
            <a:br/>
            <a:r>
              <a:t>Personalization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1148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0F0F0"/>
                </a:solidFill>
              </a:defRPr>
            </a:pPr>
            <a:r>
              <a:t>Adapts to individual</a:t>
            </a:r>
            <a:br/>
            <a:r>
              <a:t>preferences, not stereotypes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114800" y="5943600"/>
            <a:ext cx="4114800" cy="365760"/>
          </a:xfrm>
          <a:prstGeom prst="rightArrow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580644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Human-Centered 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Distinction from Prior Fusion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3545"/>
                </a:solidFill>
              </a:defRPr>
            </a:pPr>
            <a:r>
              <a:t>Prior Cross-Attention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✗ Focus: Maximize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✗ Fusion gates: Unconstrained (any values)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✗ Output: Probability scores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✗ No human-interpretable explanations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✗ No visualization component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634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✗ No personalization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8B22"/>
                </a:solidFill>
              </a:defRPr>
            </a:pPr>
            <a:r>
              <a:t>Sentimentogram (Ours)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Focus: Interpretability +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Fusion gates: Sum to 1 (percentages)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175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Output: Visual emotion typography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661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Per-sample modality attribution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End-to-end visualization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66344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✓ Learned user personalization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371600"/>
            <a:ext cx="45720" cy="3840480"/>
          </a:xfrm>
          <a:prstGeom prst="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4400" y="5394960"/>
            <a:ext cx="10362895" cy="9144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Our novelty is NOT cross-attention itself, but the complete human-centered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011680" cy="914400"/>
          </a:xfrm>
          <a:prstGeom prst="round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BERT</a:t>
            </a:r>
            <a:br/>
            <a:r>
              <a:t>(768-dim)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2011680" cy="914400"/>
          </a:xfrm>
          <a:prstGeom prst="round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emotion2vec</a:t>
            </a:r>
            <a:br/>
            <a:r>
              <a:t>(1024-dim)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0320" y="1920240"/>
            <a:ext cx="731520" cy="274320"/>
          </a:xfrm>
          <a:prstGeom prst="rightArrow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560320" y="3474720"/>
            <a:ext cx="731520" cy="274320"/>
          </a:xfrm>
          <a:prstGeom prst="rightArrow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743200" cy="256032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5603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VAD-Guided</a:t>
            </a:r>
            <a:br/>
            <a:r>
              <a:t>Cross-Attention</a:t>
            </a:r>
          </a:p>
          <a:p>
            <a:br/>
            <a:pPr algn="ctr">
              <a:defRPr sz="1400">
                <a:solidFill>
                  <a:srgbClr val="DCFFDC"/>
                </a:solidFill>
              </a:defRPr>
            </a:pPr>
            <a:r>
              <a:t>Psychologically</a:t>
            </a:r>
            <a:br/>
            <a:r>
              <a:t>grounded attention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309360" y="2926080"/>
            <a:ext cx="731520" cy="274320"/>
          </a:xfrm>
          <a:prstGeom prst="rightArrow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1828800"/>
            <a:ext cx="2286000" cy="256032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25603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Constrained</a:t>
            </a:r>
            <a:br/>
            <a:r>
              <a:t>Adaptive Fusion</a:t>
            </a:r>
          </a:p>
          <a:p>
            <a:br/>
            <a:pPr algn="ctr">
              <a:defRPr sz="1400">
                <a:solidFill>
                  <a:srgbClr val="C8DCFF"/>
                </a:solidFill>
              </a:defRPr>
            </a:pPr>
            <a:r>
              <a:t>αT + αA + αI = 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09760" y="2926080"/>
            <a:ext cx="731520" cy="274320"/>
          </a:xfrm>
          <a:prstGeom prst="rightArrow">
            <a:avLst/>
          </a:prstGeom>
          <a:solidFill>
            <a:srgbClr val="3333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32720" y="2103120"/>
            <a:ext cx="1371600" cy="2011680"/>
          </a:xfrm>
          <a:prstGeom prst="round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265176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Emotion</a:t>
            </a:r>
            <a:br/>
            <a:r>
              <a:t>Class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029200"/>
            <a:ext cx="6705295" cy="1097280"/>
          </a:xfrm>
          <a:prstGeom prst="roundRect">
            <a:avLst/>
          </a:prstGeom>
          <a:solidFill>
            <a:srgbClr val="E6E6F0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5212080"/>
            <a:ext cx="6400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3366"/>
                </a:solidFill>
              </a:defRPr>
            </a:pPr>
            <a:r>
              <a:t>ℒ = ℒfocal + λmicl·ℒMICL + λvad·ℒVAD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Focal Loss (class imbalance) + Hard Negative MICL + VAD Supervision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Constrained Adaptive Fusion: The Key to Interpretability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Fusion Equation:</a:t>
            </a:r>
          </a:p>
          <a:p>
            <a:br/>
            <a:pPr>
              <a:defRPr sz="2400">
                <a:solidFill>
                  <a:srgbClr val="333333"/>
                </a:solidFill>
              </a:defRPr>
            </a:pPr>
            <a:r>
              <a:t>  h = αT·hT + αA·hA + αI·(hT ⊙ hA)</a:t>
            </a:r>
          </a:p>
          <a:p>
            <a:br/>
            <a:br/>
            <a:pPr>
              <a:defRPr sz="2200" b="1">
                <a:solidFill>
                  <a:srgbClr val="228B22"/>
                </a:solidFill>
              </a:defRPr>
            </a:pPr>
            <a:r>
              <a:t>Constraint:  αT + αA + αI = 1</a:t>
            </a:r>
          </a:p>
          <a:p>
            <a:br/>
            <a:br/>
            <a:pPr>
              <a:defRPr sz="1800">
                <a:solidFill>
                  <a:srgbClr val="333333"/>
                </a:solidFill>
              </a:defRPr>
            </a:pPr>
            <a:r>
              <a:t>This simple constraint enables: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  ✓ Per-sample modality attribution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  ✓ "76% audio, 24% text" explanations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  ✓ Dataset-level analysis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  ✓ Debugging model behavior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286000"/>
            <a:ext cx="987552" cy="7315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45552" y="2286000"/>
            <a:ext cx="3127248" cy="73152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3108960"/>
            <a:ext cx="987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6699"/>
                </a:solidFill>
              </a:defRPr>
            </a:pPr>
            <a:r>
              <a:t>Text: 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3108960"/>
            <a:ext cx="31272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CC5500"/>
                </a:solidFill>
              </a:defRPr>
            </a:pPr>
            <a:r>
              <a:t>Audio: 76%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029200"/>
            <a:ext cx="5029200" cy="1188720"/>
          </a:xfrm>
          <a:prstGeom prst="roundRect">
            <a:avLst/>
          </a:prstGeom>
          <a:solidFill>
            <a:srgbClr val="FFFAF0"/>
          </a:solidFill>
          <a:ln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516636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Example: CREMA-D (acted emotions)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Audio: 76.6% | Text: 23.1% | Interaction: 0.3%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Emotion-Aware Typography: Sentimentogram</a:t>
            </a:r>
          </a:p>
        </p:txBody>
      </p:sp>
      <p:pic>
        <p:nvPicPr>
          <p:cNvPr id="5" name="Picture 4" descr="sentimentogram_hones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3118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Typography Design Rules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011680"/>
            <a:ext cx="1645920" cy="548640"/>
          </a:xfrm>
          <a:prstGeom prst="round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21031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103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Bebas Neue, BOLD, uppercase, 1.3× size, 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834640"/>
            <a:ext cx="1645920" cy="54864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92608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Happiness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Fredoka, playful, gold, bounce animation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657600"/>
            <a:ext cx="1645920" cy="54864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749039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Sadness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749039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Merriweather, italic, smaller, blue, fade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480560"/>
            <a:ext cx="1645920" cy="548640"/>
          </a:xfrm>
          <a:prstGeom prst="roundRect">
            <a:avLst/>
          </a:prstGeom>
          <a:solidFill>
            <a:srgbClr val="8080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4572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Neutral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45720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333333"/>
                </a:solidFill>
              </a:defRPr>
            </a:pPr>
            <a:r>
              <a:t>Poppins, clean, gray, standard size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11277295" cy="1097280"/>
          </a:xfrm>
          <a:prstGeom prst="roundRect">
            <a:avLst/>
          </a:prstGeom>
          <a:solidFill>
            <a:srgbClr val="F0F8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3366"/>
                </a:solidFill>
              </a:defRPr>
            </a:pPr>
            <a:r>
              <a:t>✓ Real-time rendering   ✓ Character-level variation   ✓ Cultural adaptation   ✓ HTML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Typography Examples Across Emotions</a:t>
            </a:r>
          </a:p>
        </p:txBody>
      </p:sp>
      <p:pic>
        <p:nvPicPr>
          <p:cNvPr id="5" name="Picture 4" descr="sentimentogram_ballo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486400" cy="3073319"/>
          </a:xfrm>
          <a:prstGeom prst="rect">
            <a:avLst/>
          </a:prstGeom>
        </p:spPr>
      </p:pic>
      <p:pic>
        <p:nvPicPr>
          <p:cNvPr id="6" name="Picture 5" descr="sentimentogram_thin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5486400" cy="3109155"/>
          </a:xfrm>
          <a:prstGeom prst="rect">
            <a:avLst/>
          </a:prstGeom>
        </p:spPr>
      </p:pic>
      <p:pic>
        <p:nvPicPr>
          <p:cNvPr id="7" name="Picture 6" descr="sentimentogram_go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840480"/>
            <a:ext cx="5486400" cy="30351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1148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Each example shows inline emotion styling:</a:t>
            </a:r>
          </a:p>
          <a:p>
            <a:br/>
            <a:pPr>
              <a:defRPr sz="1400">
                <a:solidFill>
                  <a:srgbClr val="333333"/>
                </a:solidFill>
              </a:defRPr>
            </a:pPr>
            <a:r>
              <a:t>• Emotion words highlighted WITHOUT boxes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Preserves natural reading flow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• Emotion conveyed through typography alone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Rule-Based Personalization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3545"/>
                </a:solidFill>
              </a:defRPr>
            </a:pPr>
            <a:r>
              <a:t>Rule-Based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IF region='East' THEN red=lucky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IF age&gt;50 THEN font_size=large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IF gender='F' THEN colors=warm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4389120" cy="1097280"/>
          </a:xfrm>
          <a:prstGeom prst="roundRect">
            <a:avLst/>
          </a:prstGeom>
          <a:solidFill>
            <a:srgbClr val="FFE6E6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4023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Result: 43.8% accuracy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WORSE than random! (p=0.014)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28B22"/>
                </a:solidFill>
              </a:defRPr>
            </a:pPr>
            <a:r>
              <a:t>Learned Personalization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21031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1. Show 10-15 pairwise comparisons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6517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2. User picks preferred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3. Learn preference function (N=50)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749039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4. Personalize for new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31920"/>
            <a:ext cx="4389120" cy="1097280"/>
          </a:xfrm>
          <a:prstGeom prst="roundRect">
            <a:avLst/>
          </a:prstGeom>
          <a:solidFill>
            <a:srgbClr val="E6FFE6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114800"/>
            <a:ext cx="40233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8B22"/>
                </a:solidFill>
              </a:defRPr>
            </a:pPr>
            <a:r>
              <a:t>Result: 61.2% accuracy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vs Bradley-Terry 52.8% (p&lt;0.001)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94960"/>
            <a:ext cx="11277295" cy="9144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Insight: Learn from individuals, don't stereotype from demographics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Main Results: Cross-Dataset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9728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IEMOCAP-4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IEMOCAP-5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IEMOCAP-6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CREMA-D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BERT-only (Text)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63.67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52.87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47.72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28.96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56.47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emotion2vec (Audio)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91.27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76.22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65.65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91.84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52.94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Concatenation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90.74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76.51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68.91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92.09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62.91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Standard Cross-Attn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89.33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73.76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66.14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91.99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63.10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Adaptive (Unconstrained)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92.21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75.66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65.97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92.09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59.97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8B22"/>
                          </a:solidFill>
                        </a:defRPr>
                      </a:pPr>
                      <a:r>
                        <a:t>Sentimentogram (Ours)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8B22"/>
                          </a:solidFill>
                        </a:defRPr>
                      </a:pPr>
                      <a:r>
                        <a:t>93.02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8B22"/>
                          </a:solidFill>
                        </a:defRPr>
                      </a:pPr>
                      <a:r>
                        <a:t>77.97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8B22"/>
                          </a:solidFill>
                        </a:defRPr>
                      </a:pPr>
                      <a:r>
                        <a:t>68.75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8B22"/>
                          </a:solidFill>
                        </a:defRPr>
                      </a:pPr>
                      <a:r>
                        <a:t>92.90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228B22"/>
                          </a:solidFill>
                        </a:defRPr>
                      </a:pPr>
                      <a:r>
                        <a:t>63.66</a:t>
                      </a:r>
                    </a:p>
                  </a:txBody>
                  <a:tcPr>
                    <a:solidFill>
                      <a:srgbClr val="E6FF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Key Findings: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Best or competitive on ALL datasets and configurations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93.02% UA on IEMOCAP-4: Interpretable fusion does NOT sacrifice accuracy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Generalizes across: Acted (CREMA-D) | Natural (IEMOCAP) | TV dialogue (MELD)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Robustness to ASR Errors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645920"/>
          <a:ext cx="8686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Condition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WER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UA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Δ UA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Ground Truth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76.26%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Whisper-large-v3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75.30%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-0.96%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1371600" y="3200400"/>
            <a:ext cx="9144000" cy="137160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383280"/>
            <a:ext cx="8778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Finding: Only -0.96% UA drop with 44% WER</a:t>
            </a:r>
          </a:p>
          <a:p>
            <a:pPr>
              <a:defRPr sz="1800">
                <a:solidFill>
                  <a:srgbClr val="E6FFE6"/>
                </a:solidFill>
              </a:defRPr>
            </a:pPr>
            <a:r>
              <a:t>→ Model is robust to real-world ASR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46320"/>
            <a:ext cx="11277295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Why Robust?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• Multimodal fusion compensates: Audio features remain unaffected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• BERT tolerates noise: Semantic similarity preserved despite word errors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• Tested with real Whisper transcriptions, not simulated noise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Ablation Study: Component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Accuracy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029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Full model: 93.02%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- VAD auxiliary loss: 91.82% (-1.2%)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Audio-only: 91.27% (p=0.02)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Text-only: 63.67% (p&lt;0.001)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28B22"/>
                </a:solidFill>
              </a:defRPr>
            </a:pPr>
            <a:r>
              <a:t>Interpretability Value (Primary)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Unconstrained fusion: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  92.21% accuracy, NO interpretability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Constrained fusion (ours):</a:t>
            </a:r>
          </a:p>
          <a:p>
            <a:pPr>
              <a:defRPr sz="1600" b="1">
                <a:solidFill>
                  <a:srgbClr val="228B22"/>
                </a:solidFill>
              </a:defRPr>
            </a:pPr>
            <a:r>
              <a:t>  93.02% accuracy + interpretability</a:t>
            </a:r>
          </a:p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→ "76% audio, 24% text" explanations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89120"/>
            <a:ext cx="11277295" cy="1828800"/>
          </a:xfrm>
          <a:prstGeom prst="roundRect">
            <a:avLst/>
          </a:prstGeom>
          <a:solidFill>
            <a:srgbClr val="FFFAF0"/>
          </a:solidFill>
          <a:ln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720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C5500"/>
                </a:solidFill>
              </a:defRPr>
            </a:pPr>
            <a:r>
              <a:t>Why Component Synergy is Expected:</a:t>
            </a:r>
          </a:p>
          <a:p>
            <a:br/>
            <a:pPr>
              <a:defRPr sz="1500">
                <a:solidFill>
                  <a:srgbClr val="333333"/>
                </a:solidFill>
              </a:defRPr>
            </a:pPr>
            <a:r>
              <a:t>Components were designed to work together: VAD guides attention → Attention informs fusion → Fusion enables MICL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The whole exceeding the sum of parts indicates successful integration, not a limitation.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Fusion Gate Analysis: Dataset Insights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8686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18288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Audio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Interaction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IEMOCAP 5-class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54.3%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IEMOCAP 6-class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58.4%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CREMA-D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23.1%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76.6%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4747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IEMOCAP 5-class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474720"/>
            <a:ext cx="4220413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63613" y="3474720"/>
            <a:ext cx="3536442" cy="3200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IEMOCAP 6-class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4297680"/>
            <a:ext cx="3217773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60973" y="4297680"/>
            <a:ext cx="4539081" cy="3200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CREMA-D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5120640"/>
            <a:ext cx="1795424" cy="32004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8624" y="5120640"/>
            <a:ext cx="5953658" cy="320040"/>
          </a:xfrm>
          <a:prstGeom prst="rect">
            <a:avLst/>
          </a:prstGeom>
          <a:solidFill>
            <a:srgbClr val="CC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5943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■ Text        ■ Audio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4114800"/>
            <a:ext cx="4846320" cy="18288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29768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Key Insight</a:t>
            </a:r>
          </a:p>
          <a:p>
            <a:br/>
            <a:pPr>
              <a:defRPr sz="1400">
                <a:solidFill>
                  <a:srgbClr val="C8DCFF"/>
                </a:solidFill>
              </a:defRPr>
            </a:pPr>
            <a:r>
              <a:t>CREMA-D (acted): 76.6% audio</a:t>
            </a:r>
          </a:p>
          <a:p>
            <a:pPr>
              <a:defRPr sz="1300">
                <a:solidFill>
                  <a:srgbClr val="B4C8E6"/>
                </a:solidFill>
              </a:defRPr>
            </a:pPr>
            <a:r>
              <a:t>→ Actors exaggerate vocal cues</a:t>
            </a:r>
          </a:p>
          <a:p>
            <a:br/>
            <a:pPr>
              <a:defRPr sz="1400">
                <a:solidFill>
                  <a:srgbClr val="C8DCFF"/>
                </a:solidFill>
              </a:defRPr>
            </a:pPr>
            <a:r>
              <a:t>IEMOCAP (natural): ~50/50</a:t>
            </a:r>
          </a:p>
          <a:p>
            <a:pPr>
              <a:defRPr sz="1300">
                <a:solidFill>
                  <a:srgbClr val="B4C8E6"/>
                </a:solidFill>
              </a:defRPr>
            </a:pPr>
            <a:r>
              <a:t>→ Natural speech needs both modalities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User Study: Typography Evaluation (N=30)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743200" cy="201168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98%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Reading Speed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6E6"/>
                </a:solidFill>
              </a:defRPr>
            </a:pPr>
            <a:r>
              <a:t>Preserved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554480"/>
            <a:ext cx="2743200" cy="2011680"/>
          </a:xfrm>
          <a:prstGeom prst="round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7373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84.2%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Emotion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6E6"/>
                </a:solidFill>
              </a:defRPr>
            </a:pPr>
            <a:r>
              <a:t>vs 61.3%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554480"/>
            <a:ext cx="2743200" cy="2011680"/>
          </a:xfrm>
          <a:prstGeom prst="roundRect">
            <a:avLst/>
          </a:prstGeom>
          <a:solidFill>
            <a:srgbClr val="DC35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87.3%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Anger from Typography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6E6"/>
                </a:solidFill>
              </a:defRPr>
            </a:pPr>
            <a:r>
              <a:t>Alone (no audio)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554480"/>
            <a:ext cx="2743200" cy="2011680"/>
          </a:xfrm>
          <a:prstGeom prst="roundRect">
            <a:avLst/>
          </a:prstGeom>
          <a:solidFill>
            <a:srgbClr val="FFC10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7373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79.2%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Happy from Typography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E6E6E6"/>
                </a:solidFill>
              </a:defRPr>
            </a:pPr>
            <a:r>
              <a:t>Alone (no audio)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931920"/>
            <a:ext cx="11277295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148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Study Design: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• Within-subjects design with 30 participants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• Compared: Plain subtitles vs. Full typography vs. Reduced typography</a:t>
            </a:r>
          </a:p>
          <a:p>
            <a:pPr>
              <a:defRPr sz="1500">
                <a:solidFill>
                  <a:srgbClr val="333333"/>
                </a:solidFill>
              </a:defRPr>
            </a:pPr>
            <a:r>
              <a:t>• Measured: Reading speed, emotion recognition accuracy, discriminability</a:t>
            </a:r>
          </a:p>
          <a:p>
            <a:br/>
            <a:pPr>
              <a:defRPr sz="1600" b="1">
                <a:solidFill>
                  <a:srgbClr val="228B22"/>
                </a:solidFill>
              </a:defRPr>
            </a:pPr>
            <a:r>
              <a:t>Key Finding: Typography enables emotion perception from text alone (87.3% anger, 79.2% happy)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t>All results statistically significant (p &lt; 0.001)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Real-Time Capability: System Latency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0515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50292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Audio feature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12ms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emotion2vec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Text feature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8ms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BERT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Model forward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15ms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Cross-attention +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Typography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12ms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HTML generation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47ms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333333"/>
                          </a:solidFill>
                        </a:defRPr>
                      </a:pPr>
                      <a:r>
                        <a:t>&lt; 50ms threshold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114800"/>
            <a:ext cx="5029200" cy="210312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Real-Time Ready</a:t>
            </a:r>
          </a:p>
          <a:p>
            <a:br/>
            <a:pPr>
              <a:defRPr sz="1800">
                <a:solidFill>
                  <a:srgbClr val="FFFFFF"/>
                </a:solidFill>
              </a:defRPr>
            </a:pPr>
            <a:r>
              <a:t>✓ 47ms total latency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✓ Suitable for live video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✓ Streaming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4114800"/>
            <a:ext cx="5790895" cy="2103120"/>
          </a:xfrm>
          <a:prstGeom prst="round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4297680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Practical Applications</a:t>
            </a:r>
          </a:p>
          <a:p>
            <a:pPr>
              <a:defRPr sz="1600">
                <a:solidFill>
                  <a:srgbClr val="DCF0FF"/>
                </a:solidFill>
              </a:defRPr>
            </a:pPr>
            <a:r>
              <a:t>• Live streaming subtitles</a:t>
            </a:r>
          </a:p>
          <a:p>
            <a:pPr>
              <a:defRPr sz="1600">
                <a:solidFill>
                  <a:srgbClr val="DCF0FF"/>
                </a:solidFill>
              </a:defRPr>
            </a:pPr>
            <a:r>
              <a:t>• Video conferencing</a:t>
            </a:r>
          </a:p>
          <a:p>
            <a:pPr>
              <a:defRPr sz="1600">
                <a:solidFill>
                  <a:srgbClr val="DCF0FF"/>
                </a:solidFill>
              </a:defRPr>
            </a:pPr>
            <a:r>
              <a:t>• Real-time feedback tools</a:t>
            </a:r>
          </a:p>
          <a:p>
            <a:pPr>
              <a:defRPr sz="1600">
                <a:solidFill>
                  <a:srgbClr val="DCF0FF"/>
                </a:solidFill>
              </a:defRPr>
            </a:pPr>
            <a:r>
              <a:t>• Accessibility systems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• No Video Modality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630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Facial expressions provide valuable cues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8B22"/>
                </a:solidFill>
              </a:defRPr>
            </a:pPr>
            <a:r>
              <a:t>→ Future: Add visual modality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• English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97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Cross-lingual generalization untested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6974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8B22"/>
                </a:solidFill>
              </a:defRPr>
            </a:pPr>
            <a:r>
              <a:t>→ Future: Multilingual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• Utterance-Level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9319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No conversational context modeling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931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8B22"/>
                </a:solidFill>
              </a:defRPr>
            </a:pPr>
            <a:r>
              <a:t>→ Future: Dialogue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663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3545"/>
                </a:solidFill>
              </a:defRPr>
            </a:pPr>
            <a:r>
              <a:t>• Synergistic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1663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Hard to isolate individual effects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1663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8B22"/>
                </a:solidFill>
              </a:defRPr>
            </a:pPr>
            <a:r>
              <a:t>→ By design: Integrated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11277295" cy="1097280"/>
          </a:xfrm>
          <a:prstGeom prst="roundRect">
            <a:avLst/>
          </a:prstGeom>
          <a:solidFill>
            <a:srgbClr val="FFFAF0"/>
          </a:solidFill>
          <a:ln>
            <a:solidFill>
              <a:srgbClr val="CC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We acknowledge these limitations openly. Our primary contribution is the human-centered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design philosophy, which we believe is more impactful than incremental accuracy gains.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2011680"/>
          </a:xfrm>
          <a:prstGeom prst="roundRect">
            <a:avLst/>
          </a:prstGeom>
          <a:solidFill>
            <a:srgbClr val="006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Interpretable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Constrained gates sum to 1</a:t>
            </a:r>
            <a:br/>
            <a:r>
              <a:t>→ '76% audio, 24% text' explanations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657600" cy="2011680"/>
          </a:xfrm>
          <a:prstGeom prst="roundRect">
            <a:avLst/>
          </a:prstGeom>
          <a:solidFill>
            <a:srgbClr val="228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00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Emotion Typography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Visual subtitles with emotion-specific styling</a:t>
            </a:r>
            <a:br/>
            <a:r>
              <a:t>→ 84.2% recognition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657600" cy="2011680"/>
          </a:xfrm>
          <a:prstGeom prst="roundRect">
            <a:avLst/>
          </a:prstGeom>
          <a:solidFill>
            <a:srgbClr val="CC55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Learned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0F0F0"/>
                </a:solidFill>
              </a:defRPr>
            </a:pPr>
            <a:r>
              <a:t>Rule-based fails (43.8%)</a:t>
            </a:r>
            <a:br/>
            <a:r>
              <a:t>→ Learned: 61.2% (N=50, p&lt;0.001)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39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93.02%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IEMOCAP-4 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49039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77.97%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062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IEMOCAP-5 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49039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92.90%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2062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CREMA-D UA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749039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47ms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42062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Latency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1277295" cy="13716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C107"/>
                </a:solidFill>
              </a:defRPr>
            </a:pPr>
            <a:r>
              <a:t>Key Takeaway: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Human-centered design doesn't sacrifice accuracy—it enhances it while making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emotion recognition understandable and useful for real users.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8DCFF"/>
                </a:solidFill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C8E6"/>
                </a:solidFill>
              </a:defRPr>
            </a:pPr>
            <a:r>
              <a:t>Code &amp; Data: github.com/[anonymous]/sentimentogram</a:t>
            </a:r>
          </a:p>
          <a:p>
            <a:pPr algn="ctr">
              <a:defRPr sz="1800">
                <a:solidFill>
                  <a:srgbClr val="B4C8E6"/>
                </a:solidFill>
              </a:defRPr>
            </a:pPr>
            <a:r>
              <a:t>Paper: ACL 2026 Proceedings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